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0" y="2103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800" kern="0" dirty="0">
                <a:solidFill>
                  <a:srgbClr val="1E2D3D"/>
                </a:solidFill>
              </a:rPr>
              <a:t>PARIS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EPITA · CLOUD COMPUTING FINAL PROJECT ·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UrbanMove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9CF0"/>
                </a:solidFill>
              </a:rPr>
              <a:t>Cloud-Native Smart Mobility Platform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2743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Nihal K P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Prerona Mitra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GCP · Cloud Run · Pub/Sub · BigQuery ML · MLflow · Grafana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PROBLEM &amp; OBJECTIVES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problem are we solving?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B"/>
                </a:solidFill>
              </a:rPr>
              <a:t>Paris generates millions of mobility events daily with no unified real-time processing layer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21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B"/>
                </a:solidFill>
              </a:rPr>
              <a:t>No intelligent congestion prediction to route vehicles optimally across arrondissements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7977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B"/>
                </a:solidFill>
              </a:rPr>
              <a:t>Lack of observable, scalable cloud architecture with enterprise security practices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2743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794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89E"/>
                </a:solidFill>
              </a:rPr>
              <a:t>Real-time IoT ingestion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3794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FD4"/>
                </a:solidFill>
              </a:rPr>
              <a:t>Route recommendation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7947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CF0"/>
                </a:solidFill>
              </a:rPr>
              <a:t>ML congestion prediction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26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Auth + security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4526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Full observability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4434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526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$0 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SYSTEM ARCHITECTURE · GCP FREE TIER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2D3F52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23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Internet / Clients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424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Mobile users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424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IoT vehicles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675120" y="10058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424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Ops dashboard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0" cy="8229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0876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63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Edge (Cloud Run HTTPS)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6459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824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Frontend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16459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6824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Firebase Auth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16459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824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Maps 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0" y="2057400"/>
            <a:ext cx="0" cy="8229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14884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0F3D50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037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Compute (Cloud Run)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28600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32257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User Service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37760" y="228600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32257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Routing Engine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75120" y="228600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32257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Analytics Svc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412480" y="228600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232257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Stream Processor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2697480"/>
            <a:ext cx="0" cy="8229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78892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1A3A2A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43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Messaging (Pub/Sub)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292608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296265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raw-events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292608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96265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push subscription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75120" y="292608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96265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dead-letter topic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480560" y="3337560"/>
            <a:ext cx="0" cy="8229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42900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2A1F3D"/>
          </a:solidFill>
          <a:ln w="12700">
            <a:solidFill>
              <a:srgbClr val="2E5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Data (Firestore + BigQuery + GCS)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0" y="356616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36027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Vehicle state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356616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6027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Historical events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75120" y="356616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36027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ML artifacts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</a:rPr>
              <a:t>OPEN SOURCE TOOLS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40740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443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89E"/>
                </a:solidFill>
              </a:rPr>
              <a:t>MLflow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737360" y="440740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37360" y="4443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Grafana Cloud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0" y="440740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2E9C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4443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9CF0"/>
                </a:solidFill>
              </a:rPr>
              <a:t>OpenTelemetry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440740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4443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Trivy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440740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4443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Locust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589520" y="4407408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4443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FD4"/>
                </a:solidFill>
              </a:rPr>
              <a:t>Terraform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TECHNOLOGY STACK · ALL FREE TIER VERIFIED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GCP Services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1732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Cloud Run (2M req/mo free)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847088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01368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Pub/Sub (10 GB/mo)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231136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85416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Firestore (50K reads/day)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6946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BigQuery (1 TB/mo)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999232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53512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Cloud Storage (5 GB)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383280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3756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Secret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767328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21608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Artifact Registry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151376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105656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Cloud Scheduler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535424"/>
            <a:ext cx="73152" cy="7315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4897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Cloud Monitoring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9144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91440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9875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1463040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141732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Python 3.12 + FastAPI 0.115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1847088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1801368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Pydantic v2 (validation)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231136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2185416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Next.js 15 + TypeScript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2615184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56946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Firebase Auth (10K MAU)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2999232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2953512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Google Maps API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3383280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38728" y="333756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httpx (async HTTP)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3767328"/>
            <a:ext cx="73152" cy="73152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721608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uvicorn[standard]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9144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91440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9875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 &amp; OSS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14630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141732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Terraform v1.7+ (IaC)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55080" y="184708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1801368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GitHub Actions + WIF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55080" y="22311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2185416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Docker multi-stage builds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55080" y="26151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256946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MLflow 2.19 (self-hosted)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55080" y="29992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0528" y="2953512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Grafana Cloud (free tier)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55080" y="33832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3337560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OpenTelemetry 1.29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55080" y="37673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0528" y="3721608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Trivy (CVE scanning)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55080" y="415137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0528" y="4105656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Locust (load testing)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355080" y="453542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0528" y="44897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Ruff + pytest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REAL-TIME DATA PIPELINE · REPLACES DATAFLOW AT ZERO COST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 Paris vehicles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2s interval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28800" y="1581912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4813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10058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024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Pub/Sub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Topic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0" y="15727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raw-events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Avro schema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66160" y="1581912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4813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10058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024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Stream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49040" y="15727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Cloud Run function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push subscriber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03520" y="1581912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4813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10058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1024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Firestore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15727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Live vehicle state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Real-time listeners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040880" y="1581912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4813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23760" y="9144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0058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2E9CF0"/>
          </a:solidFill>
          <a:ln w="12700">
            <a:solidFill>
              <a:srgbClr val="2E9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024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BigQuery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15727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Historical events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partitioned by day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514600"/>
            <a:ext cx="8229600" cy="27432"/>
          </a:xfrm>
          <a:prstGeom prst="rect">
            <a:avLst/>
          </a:prstGeom>
          <a:solidFill>
            <a:srgbClr val="2D3F52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Dead-letter topic → captures failed messages after 5 retries → Cloud Monitoring alert fires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8595360" cy="1737360"/>
          </a:xfrm>
          <a:prstGeom prst="roundRect">
            <a:avLst>
              <a:gd name="adj" fmla="val 4211"/>
            </a:avLst>
          </a:prstGeom>
          <a:solidFill>
            <a:srgbClr val="0D2030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01752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0F3D50"/>
          </a:solidFill>
          <a:ln w="12700">
            <a:solidFill>
              <a:srgbClr val="0F3D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89E"/>
                </a:solidFill>
              </a:rPr>
              <a:t>MACHINE LEARNING LAYER (BigQuery ML + MLflow)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3456432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89E"/>
                </a:solidFill>
              </a:rPr>
              <a:t>BigQuery ML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CREATE 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ARIMA_PLUS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23160" y="3840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51760" y="3456432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89E"/>
                </a:solidFill>
              </a:rPr>
              <a:t>SQL Evaluate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5176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ML.EVALUATE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MAE / RMSE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3840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00600" y="3456432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89E"/>
                </a:solidFill>
              </a:rPr>
              <a:t>MLflow Log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Experiments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Model registry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20840" y="38404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49440" y="3456432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89E"/>
                </a:solidFill>
              </a:rPr>
              <a:t>Predict API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/congestion/predict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horizon 5–120 min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SECURITY DESIGN · ZERO SA KEYS · DEFENCE IN DEPTH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96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EF4444"/>
                </a:solidFill>
              </a:rPr>
              <a:t>THREAT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97280" y="9966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DDoS / flooding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Cloud Run rate limits + max-instances cap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1168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482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</a:rPr>
              <a:t>THREAT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97280" y="2048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breach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377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Firestore Security Rules bound to Firebase Auth UID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6324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98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59E0B"/>
                </a:solidFill>
              </a:rPr>
              <a:t>THREAT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97280" y="3099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Injection attacks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Pydantic v2 strict schema validation on all inputs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96012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9966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22C55E"/>
                </a:solidFill>
              </a:rPr>
              <a:t>THREAT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0" y="9966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Credential leak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Workload Identity Federation — zero SA key files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01168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482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22C55E"/>
                </a:solidFill>
              </a:rPr>
              <a:t>THREAT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486400" y="2048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Supply chain CVEs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377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Trivy container scan in every CI pipeline run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0632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06324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998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1A6FD4"/>
                </a:solidFill>
              </a:rPr>
              <a:t>THREAT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3099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Unauthorised access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IAM least-privilege per service account (9 SAs)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</a:rPr>
              <a:t>ENCRYPTION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All data encrypted at rest by Google (GMEK — free default) and in transit via TLS 1.3 on all Cloud Run *.run.app endpoints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SCALABILITY STRATEGY · AUTO-SCALE TO ZERO · LOCUST EVIDENCE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92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Run auto-scaling config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min-instances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1417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0 (scale to zero)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379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max-instances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8379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 per service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concurrency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258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80 req/instance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79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CPU policy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2679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cpu_idle = true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99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startup boost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30998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startup_cpu_boost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Memory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3520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512 MiB / service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914400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914400"/>
            <a:ext cx="4297680" cy="347472"/>
          </a:xfrm>
          <a:prstGeom prst="roundRect">
            <a:avLst>
              <a:gd name="adj" fmla="val 15789"/>
            </a:avLst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692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Locust load test results (50 users, 120s)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9CF0"/>
                </a:solidFill>
              </a:rPr>
              <a:t>50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concurrent users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89E"/>
                </a:solidFill>
              </a:rPr>
              <a:t>~200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5800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req/s peak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&lt; 350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P95 latency (ms)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468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580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errors during test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566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Cloud Run instances scaled from 0 → 8 under load,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then returned to 0 within 5 minutes after test ended.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</a:rPr>
              <a:t>PRODUCTION UPGRADE PATH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Cloud Run → GKE Autopilot  ·  Cloud Scheduler → Airflow  ·  Firestore → Spanner  ·  Stream Processor → Dataflow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COST ANALYSIS + DISASTER RECOVERY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5120640" cy="347472"/>
          </a:xfrm>
          <a:prstGeom prst="roundRect">
            <a:avLst>
              <a:gd name="adj" fmla="val 15789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926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cost breakdown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5120640" cy="274320"/>
          </a:xfrm>
          <a:prstGeom prst="rect">
            <a:avLst/>
          </a:prstGeom>
          <a:solidFill>
            <a:srgbClr val="2D3F52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Cloud Run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03120" y="1371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2M req / 180K vCPU-s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0" y="13716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512064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459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Firestore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03120" y="16459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50K reads/day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0" y="1645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5120640" cy="274320"/>
          </a:xfrm>
          <a:prstGeom prst="rect">
            <a:avLst/>
          </a:prstGeom>
          <a:solidFill>
            <a:srgbClr val="2D3F52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202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BigQuery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03120" y="1920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 TB query/mo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0" y="19202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512064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945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Pub/Sub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03120" y="21945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 GB/mo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0" y="21945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5120640" cy="274320"/>
          </a:xfrm>
          <a:prstGeom prst="rect">
            <a:avLst/>
          </a:prstGeom>
          <a:solidFill>
            <a:srgbClr val="2D3F52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4688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Cloud Storage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03120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 GB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0" y="24688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697480"/>
            <a:ext cx="512064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7432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Grafana Cloud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03120" y="27432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10K metrics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89120" y="27432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971800"/>
            <a:ext cx="5120640" cy="274320"/>
          </a:xfrm>
          <a:prstGeom prst="rect">
            <a:avLst/>
          </a:prstGeom>
          <a:solidFill>
            <a:srgbClr val="2D3F52"/>
          </a:solidFill>
          <a:ln w="12700">
            <a:solidFill>
              <a:srgbClr val="2D3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17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MLflow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03120" y="30175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self-hosted on Cloud Run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20" y="30175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246120"/>
            <a:ext cx="5120640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918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GitHub Actions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103120" y="32918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public repo unlimited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89120" y="32918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$0.00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520440"/>
            <a:ext cx="5120640" cy="384048"/>
          </a:xfrm>
          <a:prstGeom prst="rect">
            <a:avLst/>
          </a:prstGeom>
          <a:solidFill>
            <a:srgbClr val="0820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monthly cost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$0.00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914400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1E2D3D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914400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9692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Disaster recovery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RTO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06640" y="1417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&lt; 1 hour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52160" y="1728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RPO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06640" y="1728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&lt; 15 minutes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52160" y="2039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Firestore PITR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06640" y="2039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89E"/>
                </a:solidFill>
              </a:rPr>
              <a:t>7-day window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2160" y="2350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Pub/Sub replay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06640" y="2350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89E"/>
                </a:solidFill>
              </a:rPr>
              <a:t>1-day window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52160" y="26609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GCS versioning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26609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</a:rPr>
              <a:t>Enabled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52160" y="2971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BQ snapshots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0664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</a:rPr>
              <a:t>Weekly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52160" y="3282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Run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06640" y="3282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CF0"/>
                </a:solidFill>
              </a:rPr>
              <a:t>Redeploy &lt; 2 min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F1FB"/>
                </a:solidFill>
              </a:rPr>
              <a:t>Set a $1 billing alert in GCP Console → Billing → Budgets. Google emails before charging anything.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IMPLEMENTATION HIGHLIGHTS · ENTERPRISE PATTERNS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24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Workload Identity Federation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35331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GitHub Actions deploys to GCP with zero stored credentials. Short-lived OIDC tokens replace service account JSON keys entirely — industry best practice since 2022.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24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Dead-letter + retry pattern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135331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Pub/Sub push subscription retries failed messages 5 times with exponential backoff (10s → 10min). Failed messages route to dead-letter topic and trigger a Cloud Monitoring alert.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06040"/>
            <a:ext cx="54864" cy="1371600"/>
          </a:xfrm>
          <a:prstGeom prst="rect">
            <a:avLst/>
          </a:prstGeom>
          <a:solidFill>
            <a:srgbClr val="2E9CF0"/>
          </a:solidFill>
          <a:ln w="12700">
            <a:solidFill>
              <a:srgbClr val="2E9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OpenTelemetry vendor-neutral tracing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0449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All FastAPI services auto-instrumented with OTel SDK. Traces export to Cloud Trace. Switching to Jaeger or Grafana Tempo requires zero code changes — just swap the exporter.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606040"/>
            <a:ext cx="54864" cy="1371600"/>
          </a:xfrm>
          <a:prstGeom prst="rect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BigQuery ML + MLflow = free MLOps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30449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Congestion prediction model trained with ARIMA_PLUS in SQL. Metrics (MAE, RMSE, MAPE per zone) logged to self-hosted MLflow on Cloud Run. Full MLOps lifecycle at $0.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93192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041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Trivy in every CI run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43708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Each Docker image scanned for CVEs before push to Artifact Registry. SARIF report generated per run. Demonstrates supply chain security awareness beyond basic IAM.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9319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931920"/>
            <a:ext cx="54864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4041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 cache in Firestore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43708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Routing engine caches computed routes for 5 minutes by lat/lng hash. Maps API calls are minimised to stay within the $200/month free credit, with cache hits served in &lt; 5ms.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LIVE DEMO WALKTHROUGH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69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Firebase Auth 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Sign in with Google — JWT issued — user synced to Firestore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5059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042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IoT Simulator running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Trigger Cloud Run Job — 20 Paris vehicles publishing GPS events every 2s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85032"/>
            <a:ext cx="457200" cy="457200"/>
          </a:xfrm>
          <a:prstGeom prst="ellipse">
            <a:avLst/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538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map updates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Frontend Firestore listener shows vehicles moving across Paris in real-time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216152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069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planner API 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GET /route → Google Maps Directions → polyline drawn on map, trip saved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450592"/>
            <a:ext cx="457200" cy="457200"/>
          </a:xfrm>
          <a:prstGeom prst="ellipse">
            <a:avLst/>
          </a:prstGeom>
          <a:solidFill>
            <a:srgbClr val="2E9CF0"/>
          </a:solidFill>
          <a:ln w="12700">
            <a:solidFill>
              <a:srgbClr val="2E9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3042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congestion prediction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GET /congestion/predict?zone=Paris-1er&amp;horizon=30 → ARIMA_PLUS forecast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685032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538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Grafana dashboard live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Cloud Run request rate, Pub/Sub lag, Firestore ops, 5xx rate in real-time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LESSONS LEARNED + ARCHITECTURE TRADE-OFFS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SQL → Firestore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Firestore is document-oriented — denormalised schema required. No SQL joins possible. But real-time listeners replace polling entirely, and free tier is generous for demo scale.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Right trade-off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Dataflow → Cloud Run function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Dataflow has no free tier (~$0.11/vCPU-hr). Cloud Run Pub/Sub push achieves same validate→enrich→store pipeline at $0. Trade-off: no windowed aggregations.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0233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Right trade-off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2412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W&amp;B → MLflow self-hosted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3716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W&amp;B free plan prohibits team use (personal entities deprecated May 2024). MLflow Apache 2.0 on Cloud Run gives identical experiment tracking with zero cost.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2176272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0EA89E"/>
          </a:solidFill>
          <a:ln w="12700">
            <a:solidFill>
              <a:srgbClr val="0EA8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89E"/>
                </a:solidFill>
              </a:rPr>
              <a:t>Better choice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2D3F52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85292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Pub/Sub cold start latency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First message after idle period takes 2–4s due to Cloud Run cold start. Mitigated with startup_cpu_boost and min-instances=1 for stream-processor during demos.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4005072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0233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Challenge solved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SUMMARY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we built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7 Cloud Run services</a:t>
            </a:r>
            <a:pPr indent="0" marL="0">
              <a:buNone/>
            </a:pPr>
            <a:r>
              <a:rPr lang="en-US" sz="1100" dirty="0">
                <a:solidFill>
                  <a:srgbClr val="E8F1FB"/>
                </a:solidFill>
              </a:rPr>
              <a:t> deployed to GCP free 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89E"/>
                </a:solidFill>
              </a:rPr>
              <a:t>Real-time IoT pipeline</a:t>
            </a:r>
            <a:pPr indent="0" marL="0">
              <a:buNone/>
            </a:pPr>
            <a:r>
              <a:rPr lang="en-US" sz="1100" dirty="0">
                <a:solidFill>
                  <a:srgbClr val="E8F1FB"/>
                </a:solidFill>
              </a:rPr>
              <a:t> 20 Paris vehicles → Pub/Sub → Firestore + BigQuery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780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CF0"/>
                </a:solidFill>
              </a:rPr>
              <a:t>BigQuery ML model</a:t>
            </a:r>
            <a:pPr indent="0" marL="0">
              <a:buNone/>
            </a:pPr>
            <a:r>
              <a:rPr lang="en-US" sz="1100" dirty="0">
                <a:solidFill>
                  <a:srgbClr val="E8F1FB"/>
                </a:solidFill>
              </a:rPr>
              <a:t> ARIMA_PLUS congestion prediction tracked in MLflow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169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Enterprise security</a:t>
            </a:r>
            <a:pPr indent="0" marL="0">
              <a:buNone/>
            </a:pPr>
            <a:r>
              <a:rPr lang="en-US" sz="1100" dirty="0">
                <a:solidFill>
                  <a:srgbClr val="E8F1FB"/>
                </a:solidFill>
              </a:rPr>
              <a:t> WIF, Trivy, IAM least-privilege, Firestore Security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Full observability</a:t>
            </a:r>
            <a:pPr indent="0" marL="0">
              <a:buNone/>
            </a:pPr>
            <a:r>
              <a:rPr lang="en-US" sz="1100" dirty="0">
                <a:solidFill>
                  <a:srgbClr val="E8F1FB"/>
                </a:solidFill>
              </a:rPr>
              <a:t> Grafana + Cloud Monitoring + OTel distributed tracing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$0.00/month</a:t>
            </a:r>
            <a:pPr indent="0" marL="0">
              <a:buNone/>
            </a:pPr>
            <a:r>
              <a:rPr lang="en-US" sz="1100" dirty="0">
                <a:solidFill>
                  <a:srgbClr val="E8F1FB"/>
                </a:solidFill>
              </a:rPr>
              <a:t> 100% GCP always-free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github.com/kpnihal006/UrbanMove-Project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UrbanMove — Cloud-Native Smart Mobility Platform</dc:title>
  <dc:subject>EPITA Cloud Computing Final Project</dc:subject>
  <dc:creator>Nihal K P &amp; Prerona Mitra</dc:creator>
  <cp:lastModifiedBy>Nihal K P &amp; Prerona Mitra</cp:lastModifiedBy>
  <cp:revision>1</cp:revision>
  <dcterms:created xsi:type="dcterms:W3CDTF">2026-04-11T11:04:46Z</dcterms:created>
  <dcterms:modified xsi:type="dcterms:W3CDTF">2026-04-11T11:04:46Z</dcterms:modified>
</cp:coreProperties>
</file>